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Operational RACI  ·  PeopleTech Architecture Services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0" y="18288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82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50224" y="182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Accountable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217152" y="18288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17152" y="182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37776" y="182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Responsible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204704" y="18288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4704" y="182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25328" y="182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Consulted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192256" y="18288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92256" y="182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612880" y="182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Informed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676656"/>
            <a:ext cx="3017520" cy="457200"/>
          </a:xfrm>
          <a:prstGeom prst="rect">
            <a:avLst/>
          </a:prstGeom>
          <a:solidFill>
            <a:srgbClr val="1B2A4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6766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Activity / Artifact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676656"/>
            <a:ext cx="1920240" cy="457200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676656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Distinguished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Engineer (DE)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676656"/>
            <a:ext cx="2103120" cy="457200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676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Domain / Application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40880" y="676656"/>
            <a:ext cx="2103120" cy="457200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6766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GenAI COE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(Common Capability)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0" y="676656"/>
            <a:ext cx="3017520" cy="457200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98864" y="67665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Lead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(HRTech · CorpTech · HRBP)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1133856"/>
            <a:ext cx="12161520" cy="221285"/>
          </a:xfrm>
          <a:prstGeom prst="rect">
            <a:avLst/>
          </a:prstGeom>
          <a:solidFill>
            <a:srgbClr val="E6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133856"/>
            <a:ext cx="109728" cy="22128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" y="1133856"/>
            <a:ext cx="1188720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680"/>
                </a:solidFill>
              </a:rPr>
              <a:t>Artifacts &amp; Decisions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1355141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" y="1355141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Define &amp; own Domain Architecture strategy and standards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17520" y="1355141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85616" y="132679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85616" y="132679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1355141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97296" y="132679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97296" y="132679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1355141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0416" y="132679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0416" y="132679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44000" y="1355141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60736" y="132679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60736" y="132679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1572768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" y="1572768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Create / maintain System-of-Systems documentation (Confluence / DevNav)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017520" y="1572768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85616" y="154442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85616" y="154442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37760" y="1572768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97296" y="154442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97296" y="154442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040880" y="1572768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00416" y="154442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0416" y="154442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144000" y="1572768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60736" y="154442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60736" y="154442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1790395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" y="1790395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Author &amp; review Architecture Decision Records (ADRs)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017520" y="1790395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85616" y="176204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85616" y="176204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937760" y="1790395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797296" y="176204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97296" y="176204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040880" y="1790395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00416" y="176204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00416" y="176204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144000" y="1790395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460736" y="176204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460736" y="176204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0" y="2008022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" y="2008022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Document System Design &amp; Application Component Context (BRLR format)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017520" y="2008022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85616" y="197967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85616" y="19796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937760" y="2008022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97296" y="197967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97296" y="19796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040880" y="2008022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900416" y="197967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900416" y="19796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144000" y="2008022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60736" y="197967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460736" y="197967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0" y="2225650"/>
            <a:ext cx="12161520" cy="221285"/>
          </a:xfrm>
          <a:prstGeom prst="rect">
            <a:avLst/>
          </a:prstGeom>
          <a:solidFill>
            <a:srgbClr val="E6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2225650"/>
            <a:ext cx="109728" cy="22128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64592" y="2225650"/>
            <a:ext cx="1188720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680"/>
                </a:solidFill>
              </a:rPr>
              <a:t>Enterprise Policies &amp; Standards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0" y="2446934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" y="2446934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Define architectural standards &amp; NFRs for PT domain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017520" y="2446934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85616" y="241858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785616" y="24185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937760" y="2446934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797296" y="241858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97296" y="24185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7040880" y="2446934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00416" y="241858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0416" y="24185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9144000" y="2446934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460736" y="241858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460736" y="24185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0" y="2664562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4864" y="2664562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Manage architectural tech debt &amp; anti-patterns (Domain level)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017520" y="2664562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785616" y="263621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785616" y="263621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4937760" y="2664562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797296" y="263621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797296" y="263621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7040880" y="2664562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900416" y="263621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900416" y="263621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9144000" y="2664562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460736" y="263621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0460736" y="263621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0" y="2882189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4864" y="2882189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Ensure DDA compliance across HRTech, CorpTech &amp; HRBP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3017520" y="2882189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785616" y="285384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785616" y="28538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4937760" y="2882189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97296" y="285384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797296" y="28538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7040880" y="2882189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00416" y="285384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900416" y="28538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9144000" y="2882189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460736" y="285384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460736" y="28538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0" y="3099816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4864" y="3099816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Register &amp; approve architectural exceptions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3017520" y="3099816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785616" y="307147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785616" y="307147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4937760" y="3099816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797296" y="307147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797296" y="307147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7040880" y="3099816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900416" y="307147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900416" y="307147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9144000" y="3099816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460736" y="307147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0460736" y="307147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0" y="3317443"/>
            <a:ext cx="12161520" cy="221285"/>
          </a:xfrm>
          <a:prstGeom prst="rect">
            <a:avLst/>
          </a:prstGeom>
          <a:solidFill>
            <a:srgbClr val="E6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0" y="3317443"/>
            <a:ext cx="109728" cy="22128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64592" y="3317443"/>
            <a:ext cx="1188720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680"/>
                </a:solidFill>
              </a:rPr>
              <a:t>BRLR &amp; ServiceNow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0" y="3538728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4864" y="3538728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Create &amp; submit BRLR artifacts for owned Business Architectures (BAs)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3017520" y="3538728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785616" y="351038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785616" y="351038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4937760" y="3538728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97296" y="351038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797296" y="351038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7040880" y="3538728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900416" y="351038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900416" y="351038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9144000" y="3538728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460736" y="351038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0460736" y="351038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0" y="3756355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4864" y="3756355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Approve BAs at Domain / LOB Reuse Level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3017520" y="3756355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785616" y="372800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785616" y="372800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4937760" y="3756355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797296" y="372800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797296" y="372800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69" name="Shape 167"/>
          <p:cNvSpPr/>
          <p:nvPr/>
        </p:nvSpPr>
        <p:spPr>
          <a:xfrm>
            <a:off x="7040880" y="3756355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900416" y="372800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900416" y="372800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9144000" y="3756355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460736" y="372800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460736" y="372800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>
            <a:off x="0" y="3973982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4864" y="3973982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Manage Architecture attributes for LOB-wide BAs in ServiceNow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3017520" y="3973982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785616" y="39456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3785616" y="39456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4937760" y="3973982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797296" y="39456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797296" y="39456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7040880" y="3973982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900416" y="39456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900416" y="39456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86" name="Shape 184"/>
          <p:cNvSpPr/>
          <p:nvPr/>
        </p:nvSpPr>
        <p:spPr>
          <a:xfrm>
            <a:off x="9144000" y="3973982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460736" y="39456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0460736" y="39456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89" name="Shape 187"/>
          <p:cNvSpPr/>
          <p:nvPr/>
        </p:nvSpPr>
        <p:spPr>
          <a:xfrm>
            <a:off x="0" y="4191610"/>
            <a:ext cx="12161520" cy="221285"/>
          </a:xfrm>
          <a:prstGeom prst="rect">
            <a:avLst/>
          </a:prstGeom>
          <a:solidFill>
            <a:srgbClr val="E6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0" y="4191610"/>
            <a:ext cx="109728" cy="22128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64592" y="4191610"/>
            <a:ext cx="1188720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680"/>
                </a:solidFill>
              </a:rPr>
              <a:t>Common Capabilities &amp; AI/ML Platform</a:t>
            </a:r>
            <a:endParaRPr lang="en-US" sz="900" dirty="0"/>
          </a:p>
        </p:txBody>
      </p:sp>
      <p:sp>
        <p:nvSpPr>
          <p:cNvPr id="192" name="Shape 190"/>
          <p:cNvSpPr/>
          <p:nvPr/>
        </p:nvSpPr>
        <p:spPr>
          <a:xfrm>
            <a:off x="0" y="4412894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54864" y="4412894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Identify &amp; register common capabilities across PT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017520" y="4412894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785616" y="438454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785616" y="43845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197" name="Shape 195"/>
          <p:cNvSpPr/>
          <p:nvPr/>
        </p:nvSpPr>
        <p:spPr>
          <a:xfrm>
            <a:off x="4937760" y="4412894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797296" y="438454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797296" y="43845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7040880" y="4412894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900416" y="438454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900416" y="43845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03" name="Shape 201"/>
          <p:cNvSpPr/>
          <p:nvPr/>
        </p:nvSpPr>
        <p:spPr>
          <a:xfrm>
            <a:off x="9144000" y="4412894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460736" y="438454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0460736" y="43845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06" name="Shape 204"/>
          <p:cNvSpPr/>
          <p:nvPr/>
        </p:nvSpPr>
        <p:spPr>
          <a:xfrm>
            <a:off x="0" y="4630522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4864" y="4630522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Define AI/ML platform patterns; promote adoption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3017520" y="4630522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785616" y="460217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3785616" y="460217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11" name="Shape 209"/>
          <p:cNvSpPr/>
          <p:nvPr/>
        </p:nvSpPr>
        <p:spPr>
          <a:xfrm>
            <a:off x="4937760" y="4630522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797296" y="460217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5797296" y="460217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14" name="Shape 212"/>
          <p:cNvSpPr/>
          <p:nvPr/>
        </p:nvSpPr>
        <p:spPr>
          <a:xfrm>
            <a:off x="7040880" y="4630522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900416" y="460217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900416" y="460217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17" name="Shape 215"/>
          <p:cNvSpPr/>
          <p:nvPr/>
        </p:nvSpPr>
        <p:spPr>
          <a:xfrm>
            <a:off x="9144000" y="4630522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460736" y="460217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10460736" y="460217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220" name="Shape 218"/>
          <p:cNvSpPr/>
          <p:nvPr/>
        </p:nvSpPr>
        <p:spPr>
          <a:xfrm>
            <a:off x="0" y="4848149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4864" y="4848149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Ensure applications leverage GenAI COE common capabilities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3017520" y="4848149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785616" y="481980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3785616" y="481980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4937760" y="4848149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797296" y="481980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5797296" y="481980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28" name="Shape 226"/>
          <p:cNvSpPr/>
          <p:nvPr/>
        </p:nvSpPr>
        <p:spPr>
          <a:xfrm>
            <a:off x="7040880" y="4848149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900416" y="481980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7900416" y="481980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31" name="Shape 229"/>
          <p:cNvSpPr/>
          <p:nvPr/>
        </p:nvSpPr>
        <p:spPr>
          <a:xfrm>
            <a:off x="9144000" y="4848149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460736" y="481980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0460736" y="481980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234" name="Shape 232"/>
          <p:cNvSpPr/>
          <p:nvPr/>
        </p:nvSpPr>
        <p:spPr>
          <a:xfrm>
            <a:off x="0" y="5065776"/>
            <a:ext cx="12161520" cy="221285"/>
          </a:xfrm>
          <a:prstGeom prst="rect">
            <a:avLst/>
          </a:prstGeom>
          <a:solidFill>
            <a:srgbClr val="E6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0" y="5065776"/>
            <a:ext cx="109728" cy="22128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64592" y="5065776"/>
            <a:ext cx="1188720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680"/>
                </a:solidFill>
              </a:rPr>
              <a:t>Architecture Initiatives &amp; Reviews</a:t>
            </a:r>
            <a:endParaRPr lang="en-US" sz="900" dirty="0"/>
          </a:p>
        </p:txBody>
      </p:sp>
      <p:sp>
        <p:nvSpPr>
          <p:cNvPr id="237" name="Shape 235"/>
          <p:cNvSpPr/>
          <p:nvPr/>
        </p:nvSpPr>
        <p:spPr>
          <a:xfrm>
            <a:off x="0" y="5287061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54864" y="5287061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Lead / participate in architecturally significant intent &amp; Event Storming</a:t>
            </a:r>
            <a:endParaRPr lang="en-US" sz="850" dirty="0"/>
          </a:p>
        </p:txBody>
      </p:sp>
      <p:sp>
        <p:nvSpPr>
          <p:cNvPr id="239" name="Shape 237"/>
          <p:cNvSpPr/>
          <p:nvPr/>
        </p:nvSpPr>
        <p:spPr>
          <a:xfrm>
            <a:off x="3017520" y="5287061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785616" y="525871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3785616" y="525871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42" name="Shape 240"/>
          <p:cNvSpPr/>
          <p:nvPr/>
        </p:nvSpPr>
        <p:spPr>
          <a:xfrm>
            <a:off x="4937760" y="5287061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5797296" y="525871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5797296" y="525871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45" name="Shape 243"/>
          <p:cNvSpPr/>
          <p:nvPr/>
        </p:nvSpPr>
        <p:spPr>
          <a:xfrm>
            <a:off x="7040880" y="5287061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900416" y="525871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7900416" y="525871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48" name="Shape 246"/>
          <p:cNvSpPr/>
          <p:nvPr/>
        </p:nvSpPr>
        <p:spPr>
          <a:xfrm>
            <a:off x="9144000" y="5287061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0460736" y="525871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0460736" y="525871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51" name="Shape 249"/>
          <p:cNvSpPr/>
          <p:nvPr/>
        </p:nvSpPr>
        <p:spPr>
          <a:xfrm>
            <a:off x="0" y="5504688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54864" y="5504688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Perform bi-annual BA certification (Domain Reuse level)</a:t>
            </a:r>
            <a:endParaRPr lang="en-US" sz="850" dirty="0"/>
          </a:p>
        </p:txBody>
      </p:sp>
      <p:sp>
        <p:nvSpPr>
          <p:cNvPr id="253" name="Shape 251"/>
          <p:cNvSpPr/>
          <p:nvPr/>
        </p:nvSpPr>
        <p:spPr>
          <a:xfrm>
            <a:off x="3017520" y="5504688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785616" y="547634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785616" y="54763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56" name="Shape 254"/>
          <p:cNvSpPr/>
          <p:nvPr/>
        </p:nvSpPr>
        <p:spPr>
          <a:xfrm>
            <a:off x="4937760" y="5504688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797296" y="547634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797296" y="54763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7040880" y="5504688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900416" y="547634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7900416" y="54763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262" name="Shape 260"/>
          <p:cNvSpPr/>
          <p:nvPr/>
        </p:nvSpPr>
        <p:spPr>
          <a:xfrm>
            <a:off x="9144000" y="5504688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460736" y="547634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0460736" y="547634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265" name="Shape 263"/>
          <p:cNvSpPr/>
          <p:nvPr/>
        </p:nvSpPr>
        <p:spPr>
          <a:xfrm>
            <a:off x="0" y="5722315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54864" y="5722315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Conduct forward-looking quarterly engagement reviews</a:t>
            </a:r>
            <a:endParaRPr lang="en-US" sz="850" dirty="0"/>
          </a:p>
        </p:txBody>
      </p:sp>
      <p:sp>
        <p:nvSpPr>
          <p:cNvPr id="267" name="Shape 265"/>
          <p:cNvSpPr/>
          <p:nvPr/>
        </p:nvSpPr>
        <p:spPr>
          <a:xfrm>
            <a:off x="3017520" y="5722315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3785616" y="569396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3785616" y="569396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70" name="Shape 268"/>
          <p:cNvSpPr/>
          <p:nvPr/>
        </p:nvSpPr>
        <p:spPr>
          <a:xfrm>
            <a:off x="4937760" y="5722315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5797296" y="569396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5797296" y="569396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73" name="Shape 271"/>
          <p:cNvSpPr/>
          <p:nvPr/>
        </p:nvSpPr>
        <p:spPr>
          <a:xfrm>
            <a:off x="7040880" y="5722315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900416" y="569396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7900416" y="569396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76" name="Shape 274"/>
          <p:cNvSpPr/>
          <p:nvPr/>
        </p:nvSpPr>
        <p:spPr>
          <a:xfrm>
            <a:off x="9144000" y="5722315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460736" y="5693969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10460736" y="569396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0" y="5939942"/>
            <a:ext cx="12161520" cy="221285"/>
          </a:xfrm>
          <a:prstGeom prst="rect">
            <a:avLst/>
          </a:prstGeom>
          <a:solidFill>
            <a:srgbClr val="E6F4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0" y="5939942"/>
            <a:ext cx="109728" cy="221285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164592" y="5939942"/>
            <a:ext cx="1188720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680"/>
                </a:solidFill>
              </a:rPr>
              <a:t>Talent, Evangelism &amp; Clearing the Way</a:t>
            </a:r>
            <a:endParaRPr lang="en-US" sz="900" dirty="0"/>
          </a:p>
        </p:txBody>
      </p:sp>
      <p:sp>
        <p:nvSpPr>
          <p:cNvPr id="282" name="Shape 280"/>
          <p:cNvSpPr/>
          <p:nvPr/>
        </p:nvSpPr>
        <p:spPr>
          <a:xfrm>
            <a:off x="0" y="6161227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54864" y="6161227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Coach Domain Architects on design, architecture &amp; technology</a:t>
            </a:r>
            <a:endParaRPr lang="en-US" sz="850" dirty="0"/>
          </a:p>
        </p:txBody>
      </p:sp>
      <p:sp>
        <p:nvSpPr>
          <p:cNvPr id="284" name="Shape 282"/>
          <p:cNvSpPr/>
          <p:nvPr/>
        </p:nvSpPr>
        <p:spPr>
          <a:xfrm>
            <a:off x="3017520" y="6161227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785616" y="6132881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3785616" y="6132881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4937760" y="6161227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5797296" y="6132881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9" name="Text 287"/>
          <p:cNvSpPr/>
          <p:nvPr/>
        </p:nvSpPr>
        <p:spPr>
          <a:xfrm>
            <a:off x="5797296" y="6132881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290" name="Shape 288"/>
          <p:cNvSpPr/>
          <p:nvPr/>
        </p:nvSpPr>
        <p:spPr>
          <a:xfrm>
            <a:off x="7040880" y="6161227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900416" y="6132881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7900416" y="6132881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93" name="Shape 291"/>
          <p:cNvSpPr/>
          <p:nvPr/>
        </p:nvSpPr>
        <p:spPr>
          <a:xfrm>
            <a:off x="9144000" y="6161227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0460736" y="6132881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10460736" y="6132881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296" name="Shape 294"/>
          <p:cNvSpPr/>
          <p:nvPr/>
        </p:nvSpPr>
        <p:spPr>
          <a:xfrm>
            <a:off x="0" y="6378854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54864" y="6378854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Mentor ICs; contribute to DE 100 / DE 200 programs</a:t>
            </a:r>
            <a:endParaRPr lang="en-US" sz="850" dirty="0"/>
          </a:p>
        </p:txBody>
      </p:sp>
      <p:sp>
        <p:nvSpPr>
          <p:cNvPr id="298" name="Shape 296"/>
          <p:cNvSpPr/>
          <p:nvPr/>
        </p:nvSpPr>
        <p:spPr>
          <a:xfrm>
            <a:off x="3017520" y="6378854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785616" y="635050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3785616" y="63505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01" name="Shape 299"/>
          <p:cNvSpPr/>
          <p:nvPr/>
        </p:nvSpPr>
        <p:spPr>
          <a:xfrm>
            <a:off x="4937760" y="6378854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797296" y="635050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5797296" y="63505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04" name="Shape 302"/>
          <p:cNvSpPr/>
          <p:nvPr/>
        </p:nvSpPr>
        <p:spPr>
          <a:xfrm>
            <a:off x="7040880" y="6378854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7900416" y="635050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7900416" y="63505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07" name="Shape 305"/>
          <p:cNvSpPr/>
          <p:nvPr/>
        </p:nvSpPr>
        <p:spPr>
          <a:xfrm>
            <a:off x="9144000" y="6378854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0460736" y="635050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9" name="Text 307"/>
          <p:cNvSpPr/>
          <p:nvPr/>
        </p:nvSpPr>
        <p:spPr>
          <a:xfrm>
            <a:off x="10460736" y="63505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310" name="Shape 308"/>
          <p:cNvSpPr/>
          <p:nvPr/>
        </p:nvSpPr>
        <p:spPr>
          <a:xfrm>
            <a:off x="0" y="6596482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54864" y="6596482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Champion enterprise tech standards adoption within PT</a:t>
            </a:r>
            <a:endParaRPr lang="en-US" sz="850" dirty="0"/>
          </a:p>
        </p:txBody>
      </p:sp>
      <p:sp>
        <p:nvSpPr>
          <p:cNvPr id="312" name="Shape 310"/>
          <p:cNvSpPr/>
          <p:nvPr/>
        </p:nvSpPr>
        <p:spPr>
          <a:xfrm>
            <a:off x="3017520" y="6596482"/>
            <a:ext cx="192024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3785616" y="656813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3785616" y="656813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315" name="Shape 313"/>
          <p:cNvSpPr/>
          <p:nvPr/>
        </p:nvSpPr>
        <p:spPr>
          <a:xfrm>
            <a:off x="4937760" y="6596482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797296" y="656813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5797296" y="656813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18" name="Shape 316"/>
          <p:cNvSpPr/>
          <p:nvPr/>
        </p:nvSpPr>
        <p:spPr>
          <a:xfrm>
            <a:off x="7040880" y="6596482"/>
            <a:ext cx="21031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7900416" y="656813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7900416" y="656813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21" name="Shape 319"/>
          <p:cNvSpPr/>
          <p:nvPr/>
        </p:nvSpPr>
        <p:spPr>
          <a:xfrm>
            <a:off x="9144000" y="6596482"/>
            <a:ext cx="3017520" cy="21762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460736" y="6568135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10460736" y="6568135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324" name="Shape 322"/>
          <p:cNvSpPr/>
          <p:nvPr/>
        </p:nvSpPr>
        <p:spPr>
          <a:xfrm>
            <a:off x="0" y="6814109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54864" y="6814109"/>
            <a:ext cx="290779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Represent PT in cross-LOB / enterprise architecture forums</a:t>
            </a:r>
            <a:endParaRPr lang="en-US" sz="850" dirty="0"/>
          </a:p>
        </p:txBody>
      </p:sp>
      <p:sp>
        <p:nvSpPr>
          <p:cNvPr id="326" name="Shape 324"/>
          <p:cNvSpPr/>
          <p:nvPr/>
        </p:nvSpPr>
        <p:spPr>
          <a:xfrm>
            <a:off x="3017520" y="6814109"/>
            <a:ext cx="192024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3785616" y="678576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3785616" y="678576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29" name="Shape 327"/>
          <p:cNvSpPr/>
          <p:nvPr/>
        </p:nvSpPr>
        <p:spPr>
          <a:xfrm>
            <a:off x="4937760" y="6814109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5797296" y="678576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1" name="Text 329"/>
          <p:cNvSpPr/>
          <p:nvPr/>
        </p:nvSpPr>
        <p:spPr>
          <a:xfrm>
            <a:off x="5797296" y="678576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332" name="Shape 330"/>
          <p:cNvSpPr/>
          <p:nvPr/>
        </p:nvSpPr>
        <p:spPr>
          <a:xfrm>
            <a:off x="7040880" y="6814109"/>
            <a:ext cx="21031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7900416" y="678576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7900416" y="678576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35" name="Shape 333"/>
          <p:cNvSpPr/>
          <p:nvPr/>
        </p:nvSpPr>
        <p:spPr>
          <a:xfrm>
            <a:off x="9144000" y="6814109"/>
            <a:ext cx="3017520" cy="217627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0460736" y="678576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10460736" y="678576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338" name="Shape 336"/>
          <p:cNvSpPr/>
          <p:nvPr/>
        </p:nvSpPr>
        <p:spPr>
          <a:xfrm>
            <a:off x="0" y="6711696"/>
            <a:ext cx="12161520" cy="1463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9" name="Text 337"/>
          <p:cNvSpPr/>
          <p:nvPr/>
        </p:nvSpPr>
        <p:spPr>
          <a:xfrm>
            <a:off x="274320" y="6711696"/>
            <a:ext cx="1188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PeopleTech · Distinguished Engineering · Confidential Draft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Strategic RACI  ·  PeopleTech Architecture Services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0" y="18288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82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50224" y="182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Accountable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217152" y="18288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17152" y="182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37776" y="182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Responsible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204704" y="18288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4704" y="182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25328" y="182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Consulted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192256" y="18288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92256" y="18288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612880" y="182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Informed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676656"/>
            <a:ext cx="2331720" cy="621792"/>
          </a:xfrm>
          <a:prstGeom prst="rect">
            <a:avLst/>
          </a:prstGeom>
          <a:solidFill>
            <a:srgbClr val="1B2A4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676656"/>
            <a:ext cx="2221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Role / Stakeholder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31720" y="676656"/>
            <a:ext cx="1920240" cy="621792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6584" y="67665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Domain Architecture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Strategic Planning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51960" y="676656"/>
            <a:ext cx="2057400" cy="621792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676656"/>
            <a:ext cx="1947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Domain Architecture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&amp; Solution Design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(DDA + Cross-Domain)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676656"/>
            <a:ext cx="1965960" cy="621792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676656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Cross-Domain Architecture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Assessment &amp; Compliance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75320" y="676656"/>
            <a:ext cx="1920240" cy="621792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0184" y="67665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AI/ML Platform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Strategy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195560" y="676656"/>
            <a:ext cx="1965960" cy="621792"/>
          </a:xfrm>
          <a:prstGeom prst="rect">
            <a:avLst/>
          </a:prstGeom>
          <a:solidFill>
            <a:srgbClr val="0D768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50424" y="676656"/>
            <a:ext cx="1856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Enterprise Integration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Standards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1298448"/>
            <a:ext cx="2331720" cy="658368"/>
          </a:xfrm>
          <a:prstGeom prst="rect">
            <a:avLst/>
          </a:prstGeom>
          <a:solidFill>
            <a:srgbClr val="FDF6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298448"/>
            <a:ext cx="91440" cy="658368"/>
          </a:xfrm>
          <a:prstGeom prst="rect">
            <a:avLst/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" y="129844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Distinguished Engineer (DE)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Technical Strategy · Standards · Cross-Domain Architecture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1720" y="1298448"/>
            <a:ext cx="1920240" cy="658368"/>
          </a:xfrm>
          <a:prstGeom prst="rect">
            <a:avLst/>
          </a:prstGeom>
          <a:solidFill>
            <a:srgbClr val="FDF6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99816" y="137160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9816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77440" y="1700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Shapes PT-wide technical strategy; inputs to SLT planning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251960" y="1298448"/>
            <a:ext cx="2057400" cy="658368"/>
          </a:xfrm>
          <a:prstGeom prst="rect">
            <a:avLst/>
          </a:prstGeom>
          <a:solidFill>
            <a:srgbClr val="FDF6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8636" y="137160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8636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97680" y="170078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Leads DDA creation; accountable for cross-domain coherence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309360" y="1298448"/>
            <a:ext cx="1965960" cy="658368"/>
          </a:xfrm>
          <a:prstGeom prst="rect">
            <a:avLst/>
          </a:prstGeom>
          <a:solidFill>
            <a:srgbClr val="FDF6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00316" y="137160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00316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17007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Primary owner of standards compliance &amp; exception governance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8275320" y="1298448"/>
            <a:ext cx="1920240" cy="658368"/>
          </a:xfrm>
          <a:prstGeom prst="rect">
            <a:avLst/>
          </a:prstGeom>
          <a:solidFill>
            <a:srgbClr val="FDF6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43416" y="137160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43416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21040" y="17007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Sets AI/ML platform direction; partners with GenAI COE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0195560" y="1298448"/>
            <a:ext cx="1965960" cy="658368"/>
          </a:xfrm>
          <a:prstGeom prst="rect">
            <a:avLst/>
          </a:prstGeom>
          <a:solidFill>
            <a:srgbClr val="FDF6E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86516" y="137160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86516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241280" y="17007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Defines integration patterns &amp; champions reuse across PT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0" y="1956816"/>
            <a:ext cx="233172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1956816"/>
            <a:ext cx="91440" cy="6583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46304" y="1956816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Domain / Application Architect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HRTech · CorpTech · HRBP domains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331720" y="1956816"/>
            <a:ext cx="19202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99816" y="202996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99816" y="2029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377440" y="2359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Provides domain-specific input to strategic planning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251960" y="1956816"/>
            <a:ext cx="205740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88636" y="202996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88636" y="2029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297680" y="23591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Executes DDA within domain; owns domain solution design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6309360" y="1956816"/>
            <a:ext cx="196596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0316" y="202996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00316" y="2029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355080" y="23591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Responsible for domain-level compliance &amp; artifact delivery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8275320" y="1956816"/>
            <a:ext cx="19202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43416" y="202996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43416" y="2029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321040" y="2359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Implements AI/ML platform patterns within domain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10195560" y="1956816"/>
            <a:ext cx="196596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986516" y="2029968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986516" y="2029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241280" y="23591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Applies enterprise integration standards within domain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0" y="2615184"/>
            <a:ext cx="2331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0" y="2615184"/>
            <a:ext cx="91440" cy="6583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46304" y="2615184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GenAI COE / Sr. Director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Common Capability Lead · HR &amp; Corp Tech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331720" y="2615184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99816" y="26883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99816" y="2688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237744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GenAI applicability to PT strategic plans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4251960" y="2615184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88636" y="26883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88636" y="2688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297680" y="301752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AI/ML platform design decisions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6309360" y="2615184"/>
            <a:ext cx="1965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100316" y="26883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00316" y="2688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6355080" y="30175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cross-domain GenAI compliance matters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8275320" y="2615184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043416" y="26883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43416" y="2688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832104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Accountable for GenAI COE capability roadmap &amp; delivery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0195560" y="2615184"/>
            <a:ext cx="1965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986516" y="2688336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986516" y="26883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10241280" y="30175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integration patterns involving AI/ML services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0" y="3273552"/>
            <a:ext cx="233172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3273552"/>
            <a:ext cx="91440" cy="6583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46304" y="3273552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Business Leads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HRTech · CorpTech · HRBP Partners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331720" y="3273552"/>
            <a:ext cx="19202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99816" y="334670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099816" y="33467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2377440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Responsible for business capability change requirements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251960" y="3273552"/>
            <a:ext cx="205740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088636" y="334670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88636" y="33467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4297680" y="36758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to validate solution design against business goals</a:t>
            </a:r>
            <a:endParaRPr lang="en-US" sz="650" dirty="0"/>
          </a:p>
        </p:txBody>
      </p:sp>
      <p:sp>
        <p:nvSpPr>
          <p:cNvPr id="108" name="Shape 106"/>
          <p:cNvSpPr/>
          <p:nvPr/>
        </p:nvSpPr>
        <p:spPr>
          <a:xfrm>
            <a:off x="6309360" y="3273552"/>
            <a:ext cx="196596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100316" y="334670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100316" y="33467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6355080" y="36758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Informed on compliance outcomes affecting their domain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8275320" y="3273552"/>
            <a:ext cx="19202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043416" y="334670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043416" y="33467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8321040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Informed on AI/ML platform capabilities and roadmap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10195560" y="3273552"/>
            <a:ext cx="196596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986516" y="3346704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986516" y="33467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10241280" y="36758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Informed on integration changes impacting their systems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0" y="3931920"/>
            <a:ext cx="2331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0" y="3931920"/>
            <a:ext cx="91440" cy="6583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46304" y="3931920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PT Sr. Director – Data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Data Architecture &amp; Governance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2331720" y="3931920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099816" y="400507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099816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237744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data strategy alignment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4251960" y="3931920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088636" y="400507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088636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4297680" y="433425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data architecture within DDA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6309360" y="3931920"/>
            <a:ext cx="1965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100316" y="400507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100316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6355080" y="43342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data compliance &amp; governance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8275320" y="3931920"/>
            <a:ext cx="1920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043416" y="400507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043416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8321040" y="43342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data aspects of AI/ML platform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10195560" y="3931920"/>
            <a:ext cx="1965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986516" y="4005072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C8973A"/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986516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42" name="Text 140"/>
          <p:cNvSpPr/>
          <p:nvPr/>
        </p:nvSpPr>
        <p:spPr>
          <a:xfrm>
            <a:off x="10241280" y="43342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Consulted on data integration standards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0" y="4590288"/>
            <a:ext cx="233172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0" y="4590288"/>
            <a:ext cx="91440" cy="65836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46304" y="4590288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PT VP &amp; Senior Leadership Team</a:t>
            </a:r>
            <a:endParaRPr lang="en-US" sz="90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MVP org · IFX Leadership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2331720" y="4590288"/>
            <a:ext cx="19202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099816" y="466344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099816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237744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Informed; approves strategic direction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4251960" y="4590288"/>
            <a:ext cx="205740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088636" y="466344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088636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3" name="Text 151"/>
          <p:cNvSpPr/>
          <p:nvPr/>
        </p:nvSpPr>
        <p:spPr>
          <a:xfrm>
            <a:off x="4297680" y="499262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Informed on DDA milestones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6309360" y="4590288"/>
            <a:ext cx="196596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00316" y="466344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100316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7" name="Text 155"/>
          <p:cNvSpPr/>
          <p:nvPr/>
        </p:nvSpPr>
        <p:spPr>
          <a:xfrm>
            <a:off x="6355080" y="49926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Informed on compliance posture</a:t>
            </a:r>
            <a:endParaRPr lang="en-US" sz="650" dirty="0"/>
          </a:p>
        </p:txBody>
      </p:sp>
      <p:sp>
        <p:nvSpPr>
          <p:cNvPr id="158" name="Shape 156"/>
          <p:cNvSpPr/>
          <p:nvPr/>
        </p:nvSpPr>
        <p:spPr>
          <a:xfrm>
            <a:off x="8275320" y="4590288"/>
            <a:ext cx="192024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043416" y="466344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043416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61" name="Text 159"/>
          <p:cNvSpPr/>
          <p:nvPr/>
        </p:nvSpPr>
        <p:spPr>
          <a:xfrm>
            <a:off x="832104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Informed on AI/ML platform investment</a:t>
            </a:r>
            <a:endParaRPr lang="en-US" sz="650" dirty="0"/>
          </a:p>
        </p:txBody>
      </p:sp>
      <p:sp>
        <p:nvSpPr>
          <p:cNvPr id="162" name="Shape 160"/>
          <p:cNvSpPr/>
          <p:nvPr/>
        </p:nvSpPr>
        <p:spPr>
          <a:xfrm>
            <a:off x="10195560" y="4590288"/>
            <a:ext cx="196596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986516" y="4663440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0986516" y="46634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65" name="Text 163"/>
          <p:cNvSpPr/>
          <p:nvPr/>
        </p:nvSpPr>
        <p:spPr>
          <a:xfrm>
            <a:off x="10241280" y="49926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Informed on integration standards adoption</a:t>
            </a:r>
            <a:endParaRPr lang="en-US" sz="650" dirty="0"/>
          </a:p>
        </p:txBody>
      </p:sp>
      <p:sp>
        <p:nvSpPr>
          <p:cNvPr id="166" name="Shape 164"/>
          <p:cNvSpPr/>
          <p:nvPr/>
        </p:nvSpPr>
        <p:spPr>
          <a:xfrm>
            <a:off x="182880" y="5321808"/>
            <a:ext cx="11795760" cy="548640"/>
          </a:xfrm>
          <a:prstGeom prst="rect">
            <a:avLst/>
          </a:prstGeom>
          <a:solidFill>
            <a:srgbClr val="E6F4F5"/>
          </a:solidFill>
          <a:ln w="10160">
            <a:solidFill>
              <a:srgbClr val="0D76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7" name="Shape 165"/>
          <p:cNvSpPr/>
          <p:nvPr/>
        </p:nvSpPr>
        <p:spPr>
          <a:xfrm>
            <a:off x="182880" y="5321808"/>
            <a:ext cx="109728" cy="54864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47472" y="5321808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680"/>
                </a:solidFill>
              </a:rPr>
              <a:t>Conditions for DE Effectiveness: 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Reporting altitude at Senior Director or above  ·  Cross-pillar access to HRTech, CorpTech, HRBP, and GenAI COE  ·  Defined relationship with IFX-level architecture forums  ·  Separation of DE (IC) from people-leader roles in performance and career frameworks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0" y="6711696"/>
            <a:ext cx="12161520" cy="1463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74320" y="6711696"/>
            <a:ext cx="1188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PeopleTech · Distinguished Engineering · Confidential Draft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Services RACI – PeopleTech</dc:title>
  <dc:subject>PptxGenJS Presentation</dc:subject>
  <dc:creator>PptxGenJS</dc:creator>
  <cp:lastModifiedBy>PptxGenJS</cp:lastModifiedBy>
  <cp:revision>1</cp:revision>
  <dcterms:created xsi:type="dcterms:W3CDTF">2026-05-11T22:50:54Z</dcterms:created>
  <dcterms:modified xsi:type="dcterms:W3CDTF">2026-05-11T22:50:54Z</dcterms:modified>
</cp:coreProperties>
</file>